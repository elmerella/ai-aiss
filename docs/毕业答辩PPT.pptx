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63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137160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5D6D7E"/>
                </a:solidFill>
                <a:latin typeface="微软雅黑"/>
              </a:defRPr>
            </a:pPr>
            <a:r>
              <a:t>本科毕业论文（设计）答辩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56032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A5F9E"/>
                </a:solidFill>
                <a:latin typeface="微软雅黑"/>
              </a:defRPr>
            </a:pPr>
            <a:r>
              <a:t>多模态智能校园助手系统的设计与实现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56616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5D6D7E"/>
                </a:solidFill>
                <a:latin typeface="微软雅黑"/>
              </a:defRPr>
            </a:pPr>
            <a:r>
              <a:t>Design and Implementation of Multimodal Intelligent Campus Assistant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808451"/>
            <a:ext cx="121916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2C3E50"/>
                </a:solidFill>
                <a:latin typeface="微软雅黑"/>
              </a:defRPr>
            </a:pPr>
            <a:r>
              <a:t>答辩人：XXX</a:t>
            </a:r>
            <a:br/>
            <a:r>
              <a:t>学  号：2227010250</a:t>
            </a:r>
            <a:br/>
            <a:r>
              <a:t>专  业：计算机科学与技术</a:t>
            </a:r>
            <a:br/>
            <a:r>
              <a:t>指导教师：XXX 教授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A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0"/>
            <a:ext cx="12191695" cy="73152"/>
          </a:xfrm>
          <a:prstGeom prst="rect">
            <a:avLst/>
          </a:prstGeom>
          <a:solidFill>
            <a:srgbClr val="1A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5F9E"/>
                </a:solidFill>
                <a:latin typeface="微软雅黑"/>
              </a:defRPr>
            </a:pPr>
            <a:r>
              <a:t>目  录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1828800"/>
            <a:ext cx="548640" cy="548640"/>
          </a:xfrm>
          <a:prstGeom prst="ellipse">
            <a:avLst/>
          </a:prstGeom>
          <a:solidFill>
            <a:srgbClr val="1A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874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C3E50"/>
                </a:solidFill>
                <a:latin typeface="微软雅黑"/>
              </a:defRPr>
            </a:pPr>
            <a:r>
              <a:t>研究背景与意义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2606040"/>
            <a:ext cx="548640" cy="548640"/>
          </a:xfrm>
          <a:prstGeom prst="ellipse">
            <a:avLst/>
          </a:prstGeom>
          <a:solidFill>
            <a:srgbClr val="1A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651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C3E50"/>
                </a:solidFill>
                <a:latin typeface="微软雅黑"/>
              </a:defRPr>
            </a:pPr>
            <a:r>
              <a:t>系统总体架构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3383280"/>
            <a:ext cx="548640" cy="548640"/>
          </a:xfrm>
          <a:prstGeom prst="ellipse">
            <a:avLst/>
          </a:prstGeom>
          <a:solidFill>
            <a:srgbClr val="1A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4290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C3E50"/>
                </a:solidFill>
                <a:latin typeface="微软雅黑"/>
              </a:defRPr>
            </a:pPr>
            <a:r>
              <a:t>核心功能模块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4160519"/>
            <a:ext cx="548640" cy="548640"/>
          </a:xfrm>
          <a:prstGeom prst="ellipse">
            <a:avLst/>
          </a:prstGeom>
          <a:solidFill>
            <a:srgbClr val="1A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4206239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C3E50"/>
                </a:solidFill>
                <a:latin typeface="微软雅黑"/>
              </a:defRPr>
            </a:pPr>
            <a:r>
              <a:t>技术创新与亮点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4937759"/>
            <a:ext cx="548640" cy="548640"/>
          </a:xfrm>
          <a:prstGeom prst="ellipse">
            <a:avLst/>
          </a:prstGeom>
          <a:solidFill>
            <a:srgbClr val="1A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4983479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C3E50"/>
                </a:solidFill>
                <a:latin typeface="微软雅黑"/>
              </a:defRPr>
            </a:pPr>
            <a:r>
              <a:t>总结与展望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0"/>
            <a:ext cx="12191695" cy="73152"/>
          </a:xfrm>
          <a:prstGeom prst="rect">
            <a:avLst/>
          </a:prstGeom>
          <a:solidFill>
            <a:srgbClr val="1A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5F9E"/>
                </a:solidFill>
                <a:latin typeface="微软雅黑"/>
              </a:defRPr>
            </a:pPr>
            <a:r>
              <a:t>01  研究背景与意义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5D6D7E"/>
                </a:solidFill>
                <a:latin typeface="微软雅黑"/>
              </a:defRPr>
            </a:pPr>
            <a:r>
              <a:t>Research Background and Significance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  <a:latin typeface="微软雅黑"/>
              </a:defRPr>
            </a:pPr>
            <a:r>
              <a:t>● 高校信息化正从"数字校园"向"智慧校园"跃迁，大语言模型与多模态技术日趋成熟</a:t>
            </a:r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  <a:latin typeface="微软雅黑"/>
              </a:defRPr>
            </a:pPr>
            <a:r>
              <a:t>● 现有校园系统功能分散、入口独立，师生查询课表、成绩、办事指南时效率低下</a:t>
            </a:r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  <a:latin typeface="微软雅黑"/>
              </a:defRPr>
            </a:pPr>
            <a:r>
              <a:t>● 传统系统交互方式单一，不支持语音、图像等多模态输入，用户体验不佳</a:t>
            </a:r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  <a:latin typeface="微软雅黑"/>
              </a:defRPr>
            </a:pPr>
            <a:r>
              <a:t>● 教务数据涉及隐私，缺少严格的身份校验与越权约束，存在数据泄露风险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297680"/>
            <a:ext cx="10515600" cy="1828800"/>
          </a:xfrm>
          <a:prstGeom prst="roundRect">
            <a:avLst/>
          </a:prstGeom>
          <a:solidFill>
            <a:srgbClr val="F5F7FA"/>
          </a:solidFill>
          <a:ln>
            <a:solidFill>
              <a:srgbClr val="1A5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400" b="1">
                <a:solidFill>
                  <a:srgbClr val="1A5F9E"/>
                </a:solidFill>
              </a:defRPr>
            </a:pPr>
            <a:r>
              <a:t>核心痛点：入口分散  ·  交互单一  ·  隐私薄弱  ·  响应滞后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0"/>
            <a:ext cx="12191695" cy="73152"/>
          </a:xfrm>
          <a:prstGeom prst="rect">
            <a:avLst/>
          </a:prstGeom>
          <a:solidFill>
            <a:srgbClr val="1A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5F9E"/>
                </a:solidFill>
                <a:latin typeface="微软雅黑"/>
              </a:defRPr>
            </a:pPr>
            <a:r>
              <a:t>01  研究意义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5D6D7E"/>
                </a:solidFill>
                <a:latin typeface="微软雅黑"/>
              </a:defRPr>
            </a:pPr>
            <a:r>
              <a:t>Research Significance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  <a:latin typeface="微软雅黑"/>
              </a:defRPr>
            </a:pPr>
            <a:r>
              <a:t>● 统一对话入口：整合教务查询、办事指南、规章制度等分散信息源</a:t>
            </a:r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  <a:latin typeface="微软雅黑"/>
              </a:defRPr>
            </a:pPr>
            <a:r>
              <a:t>● 多模态交互：支持文本、语音、图像输入，实现"所见即所问"</a:t>
            </a:r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  <a:latin typeface="微软雅黑"/>
              </a:defRPr>
            </a:pPr>
            <a:r>
              <a:t>● 智能意图路由：自动识别查询类型，精准匹配结构化查询或知识检索</a:t>
            </a:r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  <a:latin typeface="微软雅黑"/>
              </a:defRPr>
            </a:pPr>
            <a:r>
              <a:t>● 隐私安全保障：JWT认证 + 行级数据隔离 + DID脱敏，确保数据安全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754880"/>
            <a:ext cx="10515600" cy="1371600"/>
          </a:xfrm>
          <a:prstGeom prst="roundRect">
            <a:avLst/>
          </a:prstGeom>
          <a:solidFill>
            <a:srgbClr val="E8F5E9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400" b="1">
                <a:solidFill>
                  <a:srgbClr val="2E8B57"/>
                </a:solidFill>
              </a:defRPr>
            </a:pPr>
            <a:r>
              <a:t>应用价值：为学生提供24小时在线的"私人助理"服务，显著降低信息获取门槛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0"/>
            <a:ext cx="12191695" cy="73152"/>
          </a:xfrm>
          <a:prstGeom prst="rect">
            <a:avLst/>
          </a:prstGeom>
          <a:solidFill>
            <a:srgbClr val="1A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5F9E"/>
                </a:solidFill>
                <a:latin typeface="微软雅黑"/>
              </a:defRPr>
            </a:pPr>
            <a:r>
              <a:t>02  系统总体架构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5D6D7E"/>
                </a:solidFill>
                <a:latin typeface="微软雅黑"/>
              </a:defRPr>
            </a:pPr>
            <a:r>
              <a:t>System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515600" cy="685800"/>
          </a:xfrm>
          <a:prstGeom prst="roundRect">
            <a:avLst/>
          </a:prstGeom>
          <a:solidFill>
            <a:srgbClr val="1A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表现层：Vue 3 + Vite + Pinia + Tailwind CSS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515600" cy="6858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业务层：FastAPI + 认证/查询/管理路由 + 服务编排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657600"/>
            <a:ext cx="10515600" cy="68580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数据层：MySQL 8.0 + SQLAlchemy AsyncIO ORM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0"/>
            <a:ext cx="10515600" cy="685800"/>
          </a:xfrm>
          <a:prstGeom prst="round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外部服务：DashScope(Qwen) + 百炼检索API + Redis缓存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0"/>
            <a:ext cx="12191695" cy="73152"/>
          </a:xfrm>
          <a:prstGeom prst="rect">
            <a:avLst/>
          </a:prstGeom>
          <a:solidFill>
            <a:srgbClr val="1A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5F9E"/>
                </a:solidFill>
                <a:latin typeface="微软雅黑"/>
              </a:defRPr>
            </a:pPr>
            <a:r>
              <a:t>02  核心业务流程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5D6D7E"/>
                </a:solidFill>
                <a:latin typeface="微软雅黑"/>
              </a:defRPr>
            </a:pPr>
            <a:r>
              <a:t>Core Business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20"/>
              </a:spcAft>
              <a:defRPr sz="2400">
                <a:solidFill>
                  <a:srgbClr val="2C3E50"/>
                </a:solidFill>
                <a:latin typeface="微软雅黑"/>
              </a:defRPr>
            </a:pPr>
            <a:r>
              <a:t>● ① 多模态输入：文本 / 图像(Qwen-VL) / 语音(ASR) → 统一查询文本</a:t>
            </a:r>
          </a:p>
          <a:p>
            <a:pPr>
              <a:spcAft>
                <a:spcPts val="720"/>
              </a:spcAft>
              <a:defRPr sz="2400">
                <a:solidFill>
                  <a:srgbClr val="2C3E50"/>
                </a:solidFill>
                <a:latin typeface="微软雅黑"/>
              </a:defRPr>
            </a:pPr>
            <a:r>
              <a:t>● ② 缓存优先：Redis 缓存命中即快速返回，降低延迟与成本</a:t>
            </a:r>
          </a:p>
          <a:p>
            <a:pPr>
              <a:spcAft>
                <a:spcPts val="720"/>
              </a:spcAft>
              <a:defRPr sz="2400">
                <a:solidFill>
                  <a:srgbClr val="2C3E50"/>
                </a:solidFill>
                <a:latin typeface="微软雅黑"/>
              </a:defRPr>
            </a:pPr>
            <a:r>
              <a:t>● ③ 安全检查：并发执行危险内容检测 + 隐私越权检测</a:t>
            </a:r>
          </a:p>
          <a:p>
            <a:pPr>
              <a:spcAft>
                <a:spcPts val="720"/>
              </a:spcAft>
              <a:defRPr sz="2400">
                <a:solidFill>
                  <a:srgbClr val="2C3E50"/>
                </a:solidFill>
                <a:latin typeface="微软雅黑"/>
              </a:defRPr>
            </a:pPr>
            <a:r>
              <a:t>● ④ 意图分类：LLM 识别 structured / vector / hybrid / smalltalk</a:t>
            </a:r>
          </a:p>
          <a:p>
            <a:pPr>
              <a:spcAft>
                <a:spcPts val="720"/>
              </a:spcAft>
              <a:defRPr sz="2400">
                <a:solidFill>
                  <a:srgbClr val="2C3E50"/>
                </a:solidFill>
                <a:latin typeface="微软雅黑"/>
              </a:defRPr>
            </a:pPr>
            <a:r>
              <a:t>● ⑤ 查询执行：结构化SQL查询 或 向量检索(RAG) 或 混合执行</a:t>
            </a:r>
          </a:p>
          <a:p>
            <a:pPr>
              <a:spcAft>
                <a:spcPts val="720"/>
              </a:spcAft>
              <a:defRPr sz="2400">
                <a:solidFill>
                  <a:srgbClr val="2C3E50"/>
                </a:solidFill>
                <a:latin typeface="微软雅黑"/>
              </a:defRPr>
            </a:pPr>
            <a:r>
              <a:t>● ⑥ LLM总结：生成自然语言回答，SSE流式推送至前端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0"/>
            <a:ext cx="12191695" cy="73152"/>
          </a:xfrm>
          <a:prstGeom prst="rect">
            <a:avLst/>
          </a:prstGeom>
          <a:solidFill>
            <a:srgbClr val="1A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5F9E"/>
                </a:solidFill>
                <a:latin typeface="微软雅黑"/>
              </a:defRPr>
            </a:pPr>
            <a:r>
              <a:t>03  核心功能 — 多模态输入处理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5D6D7E"/>
                </a:solidFill>
                <a:latin typeface="微软雅黑"/>
              </a:defRPr>
            </a:pPr>
            <a:r>
              <a:t>Multimodal Input 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  <a:latin typeface="微软雅黑"/>
              </a:defRPr>
            </a:pPr>
            <a:r>
              <a:t>● 图像理解：支持 JPEG/PNG，自动缩放压缩，调用 Qwen-VL 生成图片描述</a:t>
            </a:r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  <a:latin typeface="微软雅黑"/>
              </a:defRPr>
            </a:pPr>
            <a:r>
              <a:t>● 语音识别：支持 WAV/MP3，ffmpeg 转 16kHz 单声道后调用 Paraformer ASR</a:t>
            </a:r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  <a:latin typeface="微软雅黑"/>
              </a:defRPr>
            </a:pPr>
            <a:r>
              <a:t>● 文本拼接：将图像/语音转文本与原始文本合并，形成统一查询语句</a:t>
            </a:r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  <a:latin typeface="微软雅黑"/>
              </a:defRPr>
            </a:pPr>
            <a:r>
              <a:t>● 图片纯问答：针对"解释/分析"类问题直接基于图片描述回答，避免无关检索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754880"/>
            <a:ext cx="10515600" cy="1371600"/>
          </a:xfrm>
          <a:prstGeom prst="roundRect">
            <a:avLst/>
          </a:prstGeom>
          <a:solidFill>
            <a:srgbClr val="F5F7FA"/>
          </a:solidFill>
          <a:ln>
            <a:solidFill>
              <a:srgbClr val="1A5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400" b="1">
                <a:solidFill>
                  <a:srgbClr val="1A5F9E"/>
                </a:solidFill>
              </a:defRPr>
            </a:pPr>
            <a:r>
              <a:t>输入融合流程：文本 + [图片内容] + [语音转文字] → 统一查询文本 → 后续处理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0"/>
            <a:ext cx="12191695" cy="73152"/>
          </a:xfrm>
          <a:prstGeom prst="rect">
            <a:avLst/>
          </a:prstGeom>
          <a:solidFill>
            <a:srgbClr val="1A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5F9E"/>
                </a:solidFill>
                <a:latin typeface="微软雅黑"/>
              </a:defRPr>
            </a:pPr>
            <a:r>
              <a:t>03  核心功能 — 意图识别与查询重写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5D6D7E"/>
                </a:solidFill>
                <a:latin typeface="微软雅黑"/>
              </a:defRPr>
            </a:pPr>
            <a:r>
              <a:t>Intent Classification &amp; Query Rewrite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  <a:latin typeface="微软雅黑"/>
              </a:defRPr>
            </a:pPr>
            <a:r>
              <a:t>● 意图分类：基于 Qwen 模型将查询归类为 structured / vector / hybrid / smalltalk</a:t>
            </a:r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  <a:latin typeface="微软雅黑"/>
              </a:defRPr>
            </a:pPr>
            <a:r>
              <a:t>● 查询重写：结合最近 3~5 轮会话历史，补齐代词与缩写的缺失信息</a:t>
            </a:r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  <a:latin typeface="微软雅黑"/>
              </a:defRPr>
            </a:pPr>
            <a:r>
              <a:t>● 上下文截断：针对 LLM 输入长度限制进行消息裁剪，避免超限失败</a:t>
            </a:r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  <a:latin typeface="微软雅黑"/>
              </a:defRPr>
            </a:pPr>
            <a:r>
              <a:t>● 动态修正：执行后根据实际返回内容修正意图类型，提升准确率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754880"/>
            <a:ext cx="10515600" cy="1371600"/>
          </a:xfrm>
          <a:prstGeom prst="roundRect">
            <a:avLst/>
          </a:prstGeom>
          <a:solidFill>
            <a:srgbClr val="FFF3E0"/>
          </a:solidFill>
          <a:ln>
            <a:solidFill>
              <a:srgbClr val="E6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400" b="1">
                <a:solidFill>
                  <a:srgbClr val="E66C00"/>
                </a:solidFill>
              </a:defRPr>
            </a:pPr>
            <a:r>
              <a:t>示例："那这门课呢？" → 重写为 "张三的软件工程课什么时候上？"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0"/>
            <a:ext cx="12191695" cy="73152"/>
          </a:xfrm>
          <a:prstGeom prst="rect">
            <a:avLst/>
          </a:prstGeom>
          <a:solidFill>
            <a:srgbClr val="1A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5F9E"/>
                </a:solidFill>
                <a:latin typeface="微软雅黑"/>
              </a:defRPr>
            </a:pPr>
            <a:r>
              <a:t>03  核心功能 — 结构化数据查询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5D6D7E"/>
                </a:solidFill>
                <a:latin typeface="微软雅黑"/>
              </a:defRPr>
            </a:pPr>
            <a:r>
              <a:t>Structured Data Query (Text2SQL)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  <a:latin typeface="微软雅黑"/>
              </a:defRPr>
            </a:pPr>
            <a:r>
              <a:t>● 隐私约束：所有查询严格限定当前登录学生身份，防止越权访问他人数据</a:t>
            </a:r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  <a:latin typeface="微软雅黑"/>
              </a:defRPr>
            </a:pPr>
            <a:r>
              <a:t>● 工具规划：根据意图选择成绩查询、课表查询、选课查询、教师通讯录等工具</a:t>
            </a:r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  <a:latin typeface="微软雅黑"/>
              </a:defRPr>
            </a:pPr>
            <a:r>
              <a:t>● 自动学期解析：根据系统日期智能推断当前/上/下学期，支持相对时间表达</a:t>
            </a:r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  <a:latin typeface="微软雅黑"/>
              </a:defRPr>
            </a:pPr>
            <a:r>
              <a:t>● 结果美化：字段名翻译、学期ID格式化、布尔值人性化，提升可读性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754880"/>
            <a:ext cx="10515600" cy="1371600"/>
          </a:xfrm>
          <a:prstGeom prst="roundRect">
            <a:avLst/>
          </a:prstGeom>
          <a:solidFill>
            <a:srgbClr val="F5F7FA"/>
          </a:solidFill>
          <a:ln>
            <a:solidFill>
              <a:srgbClr val="1A5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400" b="1">
                <a:solidFill>
                  <a:srgbClr val="1A5F9E"/>
                </a:solidFill>
              </a:defRPr>
            </a:pPr>
            <a:r>
              <a:t>支持查询：成绩 · 课表 · 选课 · 个人信息 · 教师通讯录 · 院系专业目录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0"/>
            <a:ext cx="12191695" cy="73152"/>
          </a:xfrm>
          <a:prstGeom prst="rect">
            <a:avLst/>
          </a:prstGeom>
          <a:solidFill>
            <a:srgbClr val="1A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5F9E"/>
                </a:solidFill>
                <a:latin typeface="微软雅黑"/>
              </a:defRPr>
            </a:pPr>
            <a:r>
              <a:t>03  核心功能 — 知识库检索 (RAG)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5D6D7E"/>
                </a:solidFill>
                <a:latin typeface="微软雅黑"/>
              </a:defRPr>
            </a:pPr>
            <a:r>
              <a:t>Retrieval-Augmented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  <a:latin typeface="微软雅黑"/>
              </a:defRPr>
            </a:pPr>
            <a:r>
              <a:t>● 百炼检索：封装阿里云百炼检索 API 为 LangChain Retriever，支持异步召回</a:t>
            </a:r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  <a:latin typeface="微软雅黑"/>
              </a:defRPr>
            </a:pPr>
            <a:r>
              <a:t>● 查询拆解：将复杂问题拆分为关键词短语，提升知识库召回率与相关性</a:t>
            </a:r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  <a:latin typeface="微软雅黑"/>
              </a:defRPr>
            </a:pPr>
            <a:r>
              <a:t>● 重排融合：检索结果与结构化数据去重、筛选、重排，构建高密度上下文</a:t>
            </a:r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  <a:latin typeface="微软雅黑"/>
              </a:defRPr>
            </a:pPr>
            <a:r>
              <a:t>● 上下文截断：对大体量检索结果进行头尾截断，保留关键信息片段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754880"/>
            <a:ext cx="10515600" cy="1371600"/>
          </a:xfrm>
          <a:prstGeom prst="roundRect">
            <a:avLst/>
          </a:prstGeom>
          <a:solidFill>
            <a:srgbClr val="E8F5E9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400" b="1">
                <a:solidFill>
                  <a:srgbClr val="2E8B57"/>
                </a:solidFill>
              </a:defRPr>
            </a:pPr>
            <a:r>
              <a:t>应用场景：办事流程 · 规章制度 · 奖学金申请 · 请假/证明办理指南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0"/>
            <a:ext cx="12191695" cy="73152"/>
          </a:xfrm>
          <a:prstGeom prst="rect">
            <a:avLst/>
          </a:prstGeom>
          <a:solidFill>
            <a:srgbClr val="1A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5F9E"/>
                </a:solidFill>
                <a:latin typeface="微软雅黑"/>
              </a:defRPr>
            </a:pPr>
            <a:r>
              <a:t>03  核心功能 — 流式响应与缓存优化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5D6D7E"/>
                </a:solidFill>
                <a:latin typeface="微软雅黑"/>
              </a:defRPr>
            </a:pPr>
            <a:r>
              <a:t>Streaming Response &amp; Cache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  <a:latin typeface="微软雅黑"/>
              </a:defRPr>
            </a:pPr>
            <a:r>
              <a:t>● SSE 流式输出：使用 StreamingResponse 逐块推送 Token，前端逐字渲染</a:t>
            </a:r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  <a:latin typeface="微软雅黑"/>
              </a:defRPr>
            </a:pPr>
            <a:r>
              <a:t>● 结束元数据：最后一条数据携带意图类型、响应耗时、缓存状态等信息</a:t>
            </a:r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  <a:latin typeface="微软雅黑"/>
              </a:defRPr>
            </a:pPr>
            <a:r>
              <a:t>● 敏感度分级缓存：敏感查询短 TTL，普通查询长 TTL，平衡效率与准确性</a:t>
            </a:r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  <a:latin typeface="微软雅黑"/>
              </a:defRPr>
            </a:pPr>
            <a:r>
              <a:t>● 版本控制：日期敏感按日桶失效，课表敏感按版本号失效，防止陈旧结果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754880"/>
            <a:ext cx="10515600" cy="1371600"/>
          </a:xfrm>
          <a:prstGeom prst="roundRect">
            <a:avLst/>
          </a:prstGeom>
          <a:solidFill>
            <a:srgbClr val="F5F7FA"/>
          </a:solidFill>
          <a:ln>
            <a:solidFill>
              <a:srgbClr val="1A5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400" b="1">
                <a:solidFill>
                  <a:srgbClr val="1A5F9E"/>
                </a:solidFill>
              </a:defRPr>
            </a:pPr>
            <a:r>
              <a:t>缓存键设计：chat_cache:{version}:{did}:{md5(query)}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0"/>
            <a:ext cx="12191695" cy="73152"/>
          </a:xfrm>
          <a:prstGeom prst="rect">
            <a:avLst/>
          </a:prstGeom>
          <a:solidFill>
            <a:srgbClr val="1A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5F9E"/>
                </a:solidFill>
                <a:latin typeface="微软雅黑"/>
              </a:defRPr>
            </a:pPr>
            <a:r>
              <a:t>03  核心功能 — 安全与隐私保护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5D6D7E"/>
                </a:solidFill>
                <a:latin typeface="微软雅黑"/>
              </a:defRPr>
            </a:pPr>
            <a:r>
              <a:t>Security &amp; Privacy Protection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  <a:latin typeface="微软雅黑"/>
              </a:defRPr>
            </a:pPr>
            <a:r>
              <a:t>● JWT 认证：学生与管理员双通道鉴权，AES-CBC 加密密码传输</a:t>
            </a:r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  <a:latin typeface="微软雅黑"/>
              </a:defRPr>
            </a:pPr>
            <a:r>
              <a:t>● 危险内容检测：LLM 识别自杀/暴力倾向，触发危机干预提示</a:t>
            </a:r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  <a:latin typeface="微软雅黑"/>
              </a:defRPr>
            </a:pPr>
            <a:r>
              <a:t>● 隐私越权拦截：禁止查询他人学号，违者返回隐私保护提示</a:t>
            </a:r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  <a:latin typeface="微软雅黑"/>
              </a:defRPr>
            </a:pPr>
            <a:r>
              <a:t>● DID 脱敏：基于 student_id 生成稳定单向 DID，会话历史隔离存储</a:t>
            </a:r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  <a:latin typeface="微软雅黑"/>
              </a:defRPr>
            </a:pPr>
            <a:r>
              <a:t>● 降级策略：Redis/LLM/数据库异常时自动降级，确保核心链路可用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0"/>
            <a:ext cx="12191695" cy="73152"/>
          </a:xfrm>
          <a:prstGeom prst="rect">
            <a:avLst/>
          </a:prstGeom>
          <a:solidFill>
            <a:srgbClr val="1A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5F9E"/>
                </a:solidFill>
                <a:latin typeface="微软雅黑"/>
              </a:defRPr>
            </a:pPr>
            <a:r>
              <a:t>04  技术创新与亮点（一）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5D6D7E"/>
                </a:solidFill>
                <a:latin typeface="微软雅黑"/>
              </a:defRPr>
            </a:pPr>
            <a:r>
              <a:t>Technical Innovation &amp; Highlights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  <a:latin typeface="微软雅黑"/>
              </a:defRPr>
            </a:pPr>
            <a:r>
              <a:t>● LangChain LCEL 编排：构建高扩展性的并发调用链路，支持同步/流式双模输出</a:t>
            </a:r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  <a:latin typeface="微软雅黑"/>
              </a:defRPr>
            </a:pPr>
            <a:r>
              <a:t>● 混合查询执行：结构化 SQL + 向量检索 RAG 动态融合，覆盖教务数据与校园知识</a:t>
            </a:r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  <a:latin typeface="微软雅黑"/>
              </a:defRPr>
            </a:pPr>
            <a:r>
              <a:t>● 多轮对话上下文重写：结合会话历史补齐信息，解决代词与缩写的理解难题</a:t>
            </a:r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  <a:latin typeface="微软雅黑"/>
              </a:defRPr>
            </a:pPr>
            <a:r>
              <a:t>● 受控工具调用：模型仅生成调用计划，后端严格绑定当前身份执行查询，保障安全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029200"/>
            <a:ext cx="10515600" cy="1097280"/>
          </a:xfrm>
          <a:prstGeom prst="roundRect">
            <a:avLst/>
          </a:prstGeom>
          <a:solidFill>
            <a:srgbClr val="E8F5E9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400" b="1">
                <a:solidFill>
                  <a:srgbClr val="2E8B57"/>
                </a:solidFill>
              </a:defRPr>
            </a:pPr>
            <a:r>
              <a:t>核心优势：多模态统一  ·  智能路由  ·  安全可控  ·  流式体验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0"/>
            <a:ext cx="12191695" cy="73152"/>
          </a:xfrm>
          <a:prstGeom prst="rect">
            <a:avLst/>
          </a:prstGeom>
          <a:solidFill>
            <a:srgbClr val="1A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5F9E"/>
                </a:solidFill>
                <a:latin typeface="微软雅黑"/>
              </a:defRPr>
            </a:pPr>
            <a:r>
              <a:t>04  技术创新与亮点（二）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5D6D7E"/>
                </a:solidFill>
                <a:latin typeface="微软雅黑"/>
              </a:defRPr>
            </a:pPr>
            <a:r>
              <a:t>Technical Innovation &amp; Highlights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  <a:latin typeface="微软雅黑"/>
              </a:defRPr>
            </a:pPr>
            <a:r>
              <a:t>● 并发优化：安全检查与查询重写并行执行，缩短端到端响应延迟</a:t>
            </a:r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  <a:latin typeface="微软雅黑"/>
              </a:defRPr>
            </a:pPr>
            <a:r>
              <a:t>● 连接池管理：流式阶段提前回滚数据库会话，避免长连接占用</a:t>
            </a:r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  <a:latin typeface="微软雅黑"/>
              </a:defRPr>
            </a:pPr>
            <a:r>
              <a:t>● 敏感缓存分级：按关键词判断敏感度，不同 TTL 策略精细化控制</a:t>
            </a:r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  <a:latin typeface="微软雅黑"/>
              </a:defRPr>
            </a:pPr>
            <a:r>
              <a:t>● Docker 容器化：全套环境通过 Docker Compose 统一部署，轻量且环境一致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029200"/>
            <a:ext cx="10515600" cy="1097280"/>
          </a:xfrm>
          <a:prstGeom prst="roundRect">
            <a:avLst/>
          </a:prstGeom>
          <a:solidFill>
            <a:srgbClr val="F5F7FA"/>
          </a:solidFill>
          <a:ln>
            <a:solidFill>
              <a:srgbClr val="1A5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400" b="1">
                <a:solidFill>
                  <a:srgbClr val="1A5F9E"/>
                </a:solidFill>
              </a:defRPr>
            </a:pPr>
            <a:r>
              <a:t>技术栈：Vue 3 + FastAPI + SQLAlchemy + Redis + DashScope + LangChain + Docker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0"/>
            <a:ext cx="12191695" cy="73152"/>
          </a:xfrm>
          <a:prstGeom prst="rect">
            <a:avLst/>
          </a:prstGeom>
          <a:solidFill>
            <a:srgbClr val="1A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5F9E"/>
                </a:solidFill>
                <a:latin typeface="微软雅黑"/>
              </a:defRPr>
            </a:pPr>
            <a:r>
              <a:t>04  数据库设计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5D6D7E"/>
                </a:solidFill>
                <a:latin typeface="微软雅黑"/>
              </a:defRPr>
            </a:pPr>
            <a:r>
              <a:t>Database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  <a:latin typeface="微软雅黑"/>
              </a:defRPr>
            </a:pPr>
            <a:r>
              <a:t>● 核心实体：学生、课程、成绩、课表、教师、教室、院系、专业、班级等</a:t>
            </a:r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  <a:latin typeface="微软雅黑"/>
              </a:defRPr>
            </a:pPr>
            <a:r>
              <a:t>● 关系约束：一对多/多对多外键约束，索引优化查询性能</a:t>
            </a:r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  <a:latin typeface="微软雅黑"/>
              </a:defRPr>
            </a:pPr>
            <a:r>
              <a:t>● 聊天日志：DID 脱敏关联、sender 类型、response_time_ms 等审计字段</a:t>
            </a:r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  <a:latin typeface="微软雅黑"/>
              </a:defRPr>
            </a:pPr>
            <a:r>
              <a:t>● 调课管理：Schedule_Adjustment 支持调课审批、版本控制与冲突快照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029200"/>
            <a:ext cx="10515600" cy="1097280"/>
          </a:xfrm>
          <a:prstGeom prst="roundRect">
            <a:avLst/>
          </a:prstGeom>
          <a:solidFill>
            <a:srgbClr val="FFF3E0"/>
          </a:solidFill>
          <a:ln>
            <a:solidFill>
              <a:srgbClr val="E6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400" b="1">
                <a:solidFill>
                  <a:srgbClr val="E66C00"/>
                </a:solidFill>
              </a:defRPr>
            </a:pPr>
            <a:r>
              <a:t>设计原则：规范化建模  ·  隐私脱敏  ·  审计可追溯  ·  版本化管理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0"/>
            <a:ext cx="12191695" cy="73152"/>
          </a:xfrm>
          <a:prstGeom prst="rect">
            <a:avLst/>
          </a:prstGeom>
          <a:solidFill>
            <a:srgbClr val="1A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5F9E"/>
                </a:solidFill>
                <a:latin typeface="微软雅黑"/>
              </a:defRPr>
            </a:pPr>
            <a:r>
              <a:t>04  系统展示 — 前端界面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5D6D7E"/>
                </a:solidFill>
                <a:latin typeface="微软雅黑"/>
              </a:defRPr>
            </a:pPr>
            <a:r>
              <a:t>System Frontend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  <a:latin typeface="微软雅黑"/>
              </a:defRPr>
            </a:pPr>
            <a:r>
              <a:t>● 左右分栏布局：左侧导航功能区，右侧对话主交互区</a:t>
            </a:r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  <a:latin typeface="微软雅黑"/>
              </a:defRPr>
            </a:pPr>
            <a:r>
              <a:t>● 多模态输入：支持文本输入、图片上传、语音录制与播放</a:t>
            </a:r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  <a:latin typeface="微软雅黑"/>
              </a:defRPr>
            </a:pPr>
            <a:r>
              <a:t>● 流式渲染：SSE 逐字打印效果，实时显示意图、耗时、缓存状态</a:t>
            </a:r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  <a:latin typeface="微软雅黑"/>
              </a:defRPr>
            </a:pPr>
            <a:r>
              <a:t>● 会话管理：新建对话、搜索历史、会话切换与本地持久化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029200"/>
            <a:ext cx="10515600" cy="1097280"/>
          </a:xfrm>
          <a:prstGeom prst="roundRect">
            <a:avLst/>
          </a:prstGeom>
          <a:solidFill>
            <a:srgbClr val="F5F7FA"/>
          </a:solidFill>
          <a:ln>
            <a:solidFill>
              <a:srgbClr val="1A5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400" b="1">
                <a:solidFill>
                  <a:srgbClr val="1A5F9E"/>
                </a:solidFill>
              </a:defRPr>
            </a:pPr>
            <a:r>
              <a:t>交互亮点：低门槛上手  ·  实时反馈  ·  多模态融合  ·  上下文连贯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0"/>
            <a:ext cx="12191695" cy="73152"/>
          </a:xfrm>
          <a:prstGeom prst="rect">
            <a:avLst/>
          </a:prstGeom>
          <a:solidFill>
            <a:srgbClr val="1A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5F9E"/>
                </a:solidFill>
                <a:latin typeface="微软雅黑"/>
              </a:defRPr>
            </a:pPr>
            <a:r>
              <a:t>05  总结与展望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5D6D7E"/>
                </a:solidFill>
                <a:latin typeface="微软雅黑"/>
              </a:defRPr>
            </a:pPr>
            <a:r>
              <a:t>Summary &amp; 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  <a:latin typeface="微软雅黑"/>
              </a:defRPr>
            </a:pPr>
            <a:r>
              <a:t>● 系统实现了多模态输入、智能意图路由、结构化查询与 RAG 融合的校园问答服务</a:t>
            </a:r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  <a:latin typeface="微软雅黑"/>
              </a:defRPr>
            </a:pPr>
            <a:r>
              <a:t>● 通过 JWT 认证、隐私脱敏、越权检测等机制构建了完整的安全防护链路</a:t>
            </a:r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  <a:latin typeface="微软雅黑"/>
              </a:defRPr>
            </a:pPr>
            <a:r>
              <a:t>● SSE 流式输出与 Redis 缓存优化显著提升了用户体验与系统性能</a:t>
            </a:r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  <a:latin typeface="微软雅黑"/>
              </a:defRPr>
            </a:pPr>
            <a:r>
              <a:t>● 容器化部署方案使系统具备良好的可移植性与扩展性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0"/>
            <a:ext cx="12191695" cy="73152"/>
          </a:xfrm>
          <a:prstGeom prst="rect">
            <a:avLst/>
          </a:prstGeom>
          <a:solidFill>
            <a:srgbClr val="1A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5F9E"/>
                </a:solidFill>
                <a:latin typeface="微软雅黑"/>
              </a:defRPr>
            </a:pPr>
            <a:r>
              <a:t>05  未来展望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5D6D7E"/>
                </a:solidFill>
                <a:latin typeface="微软雅黑"/>
              </a:defRPr>
            </a:pPr>
            <a:r>
              <a:t>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  <a:latin typeface="微软雅黑"/>
              </a:defRPr>
            </a:pPr>
            <a:r>
              <a:t>● 引入对话摘要与长期记忆机制，支持跨会话的上下文保持</a:t>
            </a:r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  <a:latin typeface="微软雅黑"/>
              </a:defRPr>
            </a:pPr>
            <a:r>
              <a:t>● 扩展更多检索器与重排策略，提升知识库召回准确率</a:t>
            </a:r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  <a:latin typeface="微软雅黑"/>
              </a:defRPr>
            </a:pPr>
            <a:r>
              <a:t>● 支持更多媒体格式（视频、文档），丰富多模态交互能力</a:t>
            </a:r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  <a:latin typeface="微软雅黑"/>
              </a:defRPr>
            </a:pPr>
            <a:r>
              <a:t>● 完善监控与可观测性指标，构建运维 Dashboard</a:t>
            </a:r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  <a:latin typeface="微软雅黑"/>
              </a:defRPr>
            </a:pPr>
            <a:r>
              <a:t>● 推广至更多高校场景，形成可复制的智慧校园服务范式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22860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A5F9E"/>
                </a:solidFill>
                <a:latin typeface="微软雅黑"/>
              </a:defRPr>
            </a:pPr>
            <a:r>
              <a:t>致  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47472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5D6D7E"/>
                </a:solidFill>
                <a:latin typeface="微软雅黑"/>
              </a:defRPr>
            </a:pPr>
            <a:r>
              <a:t>感谢各位老师的指导与评审！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20624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2C3E50"/>
                </a:solidFill>
                <a:latin typeface="微软雅黑"/>
              </a:defRPr>
            </a:pPr>
            <a:r>
              <a:t>恳请各位老师批评指正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A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900</Words>
  <Application>Microsoft Office PowerPoint</Application>
  <PresentationFormat>宽屏</PresentationFormat>
  <Paragraphs>129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紫豪 常</cp:lastModifiedBy>
  <cp:revision>2</cp:revision>
  <dcterms:created xsi:type="dcterms:W3CDTF">2013-01-27T09:14:16Z</dcterms:created>
  <dcterms:modified xsi:type="dcterms:W3CDTF">2026-04-24T08:00:06Z</dcterms:modified>
  <cp:category/>
</cp:coreProperties>
</file>